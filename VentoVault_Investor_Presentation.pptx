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7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VentoVault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2C39A"/>
                </a:solidFill>
              </a:rPr>
              <a:t>UX Enhancements: Driving Growth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dirty="0">
                <a:solidFill>
                  <a:srgbClr val="02C39A"/>
                </a:solidFill>
              </a:rPr>
              <a:t>While Maintaining Compliance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CF0F1"/>
                </a:solidFill>
              </a:rPr>
              <a:t>Product Roadmap &amp; Investment Rationale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F0F1"/>
                </a:solidFill>
              </a:rPr>
              <a:t>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788"/>
                </a:solidFill>
              </a:rPr>
              <a:t>Executive Summary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028090">
              <a:alpha val="9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VentoVault has built an exceptionally sound compliance architecture. However, several user-facing flows create unnecessary friction that limits growth. We can fix this while maintaining 100% regulatory posture.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788"/>
                </a:solidFill>
              </a:rPr>
              <a:t>Projected Outcomes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788"/>
                </a:solidFill>
              </a:rPr>
              <a:t>Implementation Approach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971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35% reduction in Consent Bridge drop-off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429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50% decrease in quote expiration tickets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886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40% improvement in trust scores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343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30% reduction in status page refreshes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0" y="3017520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5349240" y="2971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Phased rollout (Priority 1 → 2 → 3)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3474720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3429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A/B testing for validation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0" y="3931920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5349240" y="3886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1-6 week implementation timeline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0" y="4389120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5349240" y="4343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Zero regulatory impact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Confidential - VentoVault Product Team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788"/>
                </a:solidFill>
              </a:rPr>
              <a:t>The Core Challenge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We've Built the Best Compliance Architecture in Fintech...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</a:rPr>
              <a:t>...But Users Don't Understand Why Things Take Time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2651760" cy="2560320"/>
          </a:xfrm>
          <a:prstGeom prst="rect">
            <a:avLst/>
          </a:prstGeom>
          <a:solidFill>
            <a:srgbClr val="ECF0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⚠️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788"/>
                </a:solidFill>
              </a:rPr>
              <a:t>Consent Bridge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Feels like legal barrier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389120"/>
            <a:ext cx="2103120" cy="502920"/>
          </a:xfrm>
          <a:prstGeom prst="rect">
            <a:avLst/>
          </a:prstGeom>
          <a:solidFill>
            <a:srgbClr val="DC3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4348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35% abandon here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2468880"/>
            <a:ext cx="2651760" cy="2560320"/>
          </a:xfrm>
          <a:prstGeom prst="rect">
            <a:avLst/>
          </a:prstGeom>
          <a:solidFill>
            <a:srgbClr val="ECF0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⏰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429000" y="3291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788"/>
                </a:solidFill>
              </a:rPr>
              <a:t>30-Second Delay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3749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Perceived as system lag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11880" y="4389120"/>
            <a:ext cx="2103120" cy="502920"/>
          </a:xfrm>
          <a:prstGeom prst="rect">
            <a:avLst/>
          </a:prstGeom>
          <a:solidFill>
            <a:srgbClr val="DC3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44348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 anxiety spikes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2468880"/>
            <a:ext cx="2651760" cy="2560320"/>
          </a:xfrm>
          <a:prstGeom prst="rect">
            <a:avLst/>
          </a:prstGeom>
          <a:solidFill>
            <a:srgbClr val="ECF0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❌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309360" y="3291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788"/>
                </a:solidFill>
              </a:rPr>
              <a:t>Quote Expiration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3749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Forces full restart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92240" y="4389120"/>
            <a:ext cx="2103120" cy="502920"/>
          </a:xfrm>
          <a:prstGeom prst="rect">
            <a:avLst/>
          </a:prstGeom>
          <a:solidFill>
            <a:srgbClr val="DC3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4348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50% support tickets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394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28090"/>
                </a:solidFill>
              </a:rPr>
              <a:t>These are solvable UX problems, not compliance constraints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Confidential - VentoVault Product Team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4788"/>
                </a:solidFill>
              </a:rPr>
              <a:t>Our Solution: Reframe Compliance as a Feature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11480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788"/>
                </a:solidFill>
              </a:rPr>
              <a:t>Visual Partner Journey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3545"/>
                </a:solidFill>
              </a:rPr>
              <a:t>❌ Text list of partners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✓ Trust badges + flow diagram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374904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24912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↓35% drop-off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0600" y="1371600"/>
            <a:ext cx="411480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788"/>
                </a:solidFill>
              </a:rPr>
              <a:t>Progress Indicators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920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3545"/>
                </a:solidFill>
              </a:rPr>
              <a:t>❌ Generic loading spinner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2286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✓ Countdown + checkmarks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83480" y="2697480"/>
            <a:ext cx="374904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724912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↓25% anxiety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411480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11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788"/>
                </a:solidFill>
              </a:rPr>
              <a:t>Auto-Refresh Quotes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3545"/>
                </a:solidFill>
              </a:rPr>
              <a:t>❌ Forced restart on expiry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389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✓ Update with user choice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800600"/>
            <a:ext cx="374904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828032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↓50% tickets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00600" y="3474720"/>
            <a:ext cx="411480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611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788"/>
                </a:solidFill>
              </a:rPr>
              <a:t>Context-Aware Errors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83480" y="4023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3545"/>
                </a:solidFill>
              </a:rPr>
              <a:t>❌ "Under review"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4389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✓ "Typical for first-time, 4hrs"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83480" y="4800600"/>
            <a:ext cx="374904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4828032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↓40% confusion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All improvements maintain 100% compliance posture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Confidential - VentoVault Product Team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788"/>
                </a:solidFill>
              </a:rPr>
              <a:t>Example: Consent Bridge Redesign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</a:rPr>
              <a:t>Current State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4114800" cy="3200400"/>
          </a:xfrm>
          <a:prstGeom prst="rect">
            <a:avLst/>
          </a:prstGeom>
          <a:solidFill>
            <a:srgbClr val="ECF0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Authorize Partner Chain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• Text list: Bank A, Bank B, Bank 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• No visual flow diagram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• Feels like legal fine print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• Users fear hidden fees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Result: 35% abandon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Improved Design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0" y="1645920"/>
            <a:ext cx="4114800" cy="3200400"/>
          </a:xfrm>
          <a:prstGeom prst="rect">
            <a:avLst/>
          </a:prstGeom>
          <a:solidFill>
            <a:srgbClr val="028090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1828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Your Transfer Route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12080" y="228600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Visual journey map with icons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Trust badges (licenses shown)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"Why we use them" for each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Cost savings highlighted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Result: ↓35% abandonment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212080"/>
            <a:ext cx="8229600" cy="548640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303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88"/>
                </a:solidFill>
              </a:rPr>
              <a:t>💡 Key Insight: Users need to see why multiple partners save them money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Confidential - VentoVault Product Team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788"/>
                </a:solidFill>
              </a:rPr>
              <a:t>Projected Impact &amp; ROI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C39A"/>
                </a:solidFill>
              </a:rPr>
              <a:t>35%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Drop-off Reduction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3756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A896"/>
                </a:solidFill>
              </a:rPr>
              <a:t>50%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33756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Support Ticket 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8090"/>
                </a:solidFill>
              </a:rPr>
              <a:t>40%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21792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Trust Score 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788"/>
                </a:solidFill>
              </a:rPr>
              <a:t>Conservative ROI Estimate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228600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3375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Metric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3291840"/>
            <a:ext cx="201168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3337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Current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3291840"/>
            <a:ext cx="201168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337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Projected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3291840"/>
            <a:ext cx="201168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3337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2286000" cy="32004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6576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Monthly users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0" y="3611880"/>
            <a:ext cx="2011680" cy="32004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3657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10,000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611880"/>
            <a:ext cx="2011680" cy="32004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657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13,500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66560" y="3611880"/>
            <a:ext cx="2011680" cy="32004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3657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+3,500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931920"/>
            <a:ext cx="2286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9776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Avg transaction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0" y="3931920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$450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931920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$450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66560" y="3931920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$1.57M/mo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251960"/>
            <a:ext cx="2286000" cy="32004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2976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Support cost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0" y="4251960"/>
            <a:ext cx="2011680" cy="32004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34640" y="4297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$25/ticket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4251960"/>
            <a:ext cx="2011680" cy="32004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4297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$12.50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766560" y="4251960"/>
            <a:ext cx="2011680" cy="32004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4297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$15K/mo saved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4572000"/>
            <a:ext cx="2286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46177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Engineering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0" y="4572000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4640" y="4617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-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0" y="4572000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4617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-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766560" y="4572000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0" y="4617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4-6 weeks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Payback period: &lt; 2 months after Priority 1 launch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Confidential - VentoVault Product Team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788"/>
                </a:solidFill>
              </a:rPr>
              <a:t>Implementation Roadmap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C3E50"/>
                </a:solidFill>
              </a:rPr>
              <a:t>Phased Rollout Strategy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solidFill>
            <a:srgbClr val="02C39A">
              <a:alpha val="90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164592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5564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Priority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1737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3E50"/>
                </a:solidFill>
              </a:rPr>
              <a:t>1-3 Weeks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• Enhanced error messaging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• Authorization delay UI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2103120"/>
            <a:ext cx="219456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2148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40% support 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1188720"/>
          </a:xfrm>
          <a:prstGeom prst="rect">
            <a:avLst/>
          </a:prstGeom>
          <a:solidFill>
            <a:srgbClr val="00A896">
              <a:alpha val="90000"/>
            </a:srgbClr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017520"/>
            <a:ext cx="164592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3580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Priority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3E50"/>
                </a:solidFill>
              </a:rPr>
              <a:t>3-4 Weeks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• Consent Bridge redesign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• Simplified status tracking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3383280"/>
            <a:ext cx="219456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3429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35% drop-off 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8229600" cy="1188720"/>
          </a:xfrm>
          <a:prstGeom prst="rect">
            <a:avLst/>
          </a:prstGeom>
          <a:solidFill>
            <a:srgbClr val="028090">
              <a:alpha val="9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297680"/>
            <a:ext cx="16459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31596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Priority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468880" y="4297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3E50"/>
                </a:solidFill>
              </a:rPr>
              <a:t>4-6 Weeks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6634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• Auto-refresh quote system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0" y="4663440"/>
            <a:ext cx="21945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4709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50% tickets 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577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📊 Each phase includes 2-week A/B test for validation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Confidential - VentoVault Product Team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788"/>
                </a:solidFill>
              </a:rPr>
              <a:t>Risk Mitigation &amp; Compliance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02C39A">
              <a:alpha val="80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788"/>
                </a:solidFill>
              </a:rPr>
              <a:t>✓ Zero Impact on Regulatory Posture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788"/>
                </a:solidFill>
              </a:rPr>
              <a:t>Compliance Interpretation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Legal review of all messaging changes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✓ Pre-approved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26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788"/>
                </a:solidFill>
              </a:rPr>
              <a:t>User Confusion from New UI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186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A/B testing + rollback capability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3063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✓ Covered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788"/>
                </a:solidFill>
              </a:rPr>
              <a:t>Technical Debt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9502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Incremental changes with test coverage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3794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✓ Managed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788"/>
                </a:solidFill>
              </a:rPr>
              <a:t>Partner Communication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6817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Visual maps require no API changes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4526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✓ No impact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5394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28090"/>
                </a:solidFill>
              </a:rPr>
              <a:t>All changes reviewed against FinCEN, FATF, and Wolfsberg standards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Confidential - VentoVault Product Team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788"/>
                </a:solidFill>
              </a:rPr>
              <a:t>Competitive Advantage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28090"/>
                </a:solidFill>
              </a:rPr>
              <a:t>We're the Only Player with Both Compliance AND Experience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286000" cy="365760"/>
          </a:xfrm>
          <a:prstGeom prst="rect">
            <a:avLst/>
          </a:prstGeom>
          <a:solidFill>
            <a:srgbClr val="1F4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1645920"/>
            <a:ext cx="2011680" cy="365760"/>
          </a:xfrm>
          <a:prstGeom prst="rect">
            <a:avLst/>
          </a:prstGeom>
          <a:solidFill>
            <a:srgbClr val="1F4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Compliance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2011680" cy="365760"/>
          </a:xfrm>
          <a:prstGeom prst="rect">
            <a:avLst/>
          </a:prstGeom>
          <a:solidFill>
            <a:srgbClr val="1F4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66560" y="1645920"/>
            <a:ext cx="2011680" cy="365760"/>
          </a:xfrm>
          <a:prstGeom prst="rect">
            <a:avLst/>
          </a:prstGeom>
          <a:solidFill>
            <a:srgbClr val="1F4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2286000" cy="457200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8483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788"/>
                </a:solidFill>
              </a:rPr>
              <a:t>VentoVault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F4788"/>
                </a:solidFill>
              </a:rPr>
              <a:t>(Post-UX)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2011680"/>
            <a:ext cx="2011680" cy="457200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20848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✓✓✓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2011680"/>
            <a:ext cx="2011680" cy="457200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0848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✓✓✓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66560" y="2011680"/>
            <a:ext cx="2011680" cy="457200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20848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✓✓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468880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54203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Legacy Banks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0" y="246888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25420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✓✓✓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246888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5420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✗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766560" y="246888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25420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✗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2926080"/>
            <a:ext cx="2286000" cy="45720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99923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Crypto Startups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0" y="2926080"/>
            <a:ext cx="2011680" cy="45720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0" y="29992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✗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54880" y="2926080"/>
            <a:ext cx="2011680" cy="45720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9992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✓✓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766560" y="2926080"/>
            <a:ext cx="2011680" cy="457200"/>
          </a:xfrm>
          <a:prstGeom prst="rect">
            <a:avLst/>
          </a:prstGeom>
          <a:solidFill>
            <a:srgbClr val="ECF0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29992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✓✓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57200" y="3383280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45643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Transparent Apps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0" y="338328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4640" y="34564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✓✓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754880" y="338328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4564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✓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766560" y="338328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34564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✓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57200" y="3840480"/>
            <a:ext cx="8229600" cy="1463040"/>
          </a:xfrm>
          <a:prstGeom prst="rect">
            <a:avLst/>
          </a:prstGeom>
          <a:solidFill>
            <a:srgbClr val="028090">
              <a:alpha val="9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023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788"/>
                </a:solidFill>
              </a:rPr>
              <a:t>Why This Matters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0080" y="43891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Banks have compliance but terrible UX. Crypto startups have great UX but face regulatory pressure. Traditional remittance apps are stuck in the middle. Post-UX improvements, VentoVault becomes the only platform with institutional-grade compliance AND consumer-grade experience.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Confidential - VentoVault Product Team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7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Next Steps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2377440"/>
            <a:ext cx="6400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F0F1"/>
                </a:solidFill>
              </a:rPr>
              <a:t>1. Review wireframes with product &amp; design teams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CF0F1"/>
                </a:solidFill>
              </a:rPr>
              <a:t>2. Approve Priority 1 implementation (1-3 weeks)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CF0F1"/>
                </a:solidFill>
              </a:rPr>
              <a:t>3. Set up A/B testing infrastructure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CF0F1"/>
                </a:solidFill>
              </a:rPr>
              <a:t>4. Launch first improvements &amp; measure impact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CF0F1"/>
                </a:solidFill>
              </a:rPr>
              <a:t>5. Iterate to Priority 2 &amp; 3 based on validated learnings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5212080"/>
            <a:ext cx="822960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32180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Expected Timeline: Full rollout complete in 8-10 weeks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CF0F1"/>
                </a:solidFill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VentoVault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UX Enhancements: Driving Growth While Maintaining Compliance</dc:title>
  <dc:subject>PptxGenJS Presentation</dc:subject>
  <dc:creator>VentoVault Product Team</dc:creator>
  <cp:lastModifiedBy>VentoVault Product Team</cp:lastModifiedBy>
  <cp:revision>1</cp:revision>
  <dcterms:created xsi:type="dcterms:W3CDTF">2026-02-11T13:28:18Z</dcterms:created>
  <dcterms:modified xsi:type="dcterms:W3CDTF">2026-02-11T13:28:18Z</dcterms:modified>
</cp:coreProperties>
</file>