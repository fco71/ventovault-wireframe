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How VentoVault Works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</a:rPr>
              <a:t>Complete System Architecture &amp; Operational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CF0F1"/>
                </a:solidFill>
              </a:rPr>
              <a:t>From User Click to Money Delivered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Confidential - Internal Operating Manual v5.5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The Foundational Model: Control, Not Custody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28090">
              <a:alpha val="90000"/>
            </a:srgbClr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788"/>
                </a:solidFill>
              </a:rPr>
              <a:t>VentoVault = Technical Switchboard for International Payments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We orchestrate instructions but never touch customer funds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210312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🚫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Absence of Independent Control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Cannot unilaterally move funds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651760" cy="210312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🔀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Switchboard, Not Carrier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Connect + instruct, never custody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51760" cy="210312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🏦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5508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Execution by Licensed Partners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All money movement by banks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This architecture keeps VentoVault out of MSB/VASP classification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Regulatory Basis: FinCEN FIN-2019-G001 'Control vs. Custody' distinction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User Journey: 8 Steps from Intent to Delivery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Create Transfer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1554480"/>
            <a:ext cx="32004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137160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Get Quote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1554480"/>
            <a:ext cx="32004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371600"/>
            <a:ext cx="548640" cy="5486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Consent Bridge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554480"/>
            <a:ext cx="32004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13716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Fund Transfer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1554480"/>
            <a:ext cx="32004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371600"/>
            <a:ext cx="548640" cy="5486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Compliance Checks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1554480"/>
            <a:ext cx="32004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Settlement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1554480"/>
            <a:ext cx="32004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13716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8368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Payout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69480" y="1554480"/>
            <a:ext cx="32004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1371600"/>
            <a:ext cx="548640" cy="5486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58952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Receipt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743200"/>
            <a:ext cx="4023360" cy="1280160"/>
          </a:xfrm>
          <a:prstGeom prst="rect">
            <a:avLst/>
          </a:prstGeom>
          <a:solidFill>
            <a:srgbClr val="FFC107">
              <a:alpha val="85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🔐 Consent Bridge (Step 3)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User explicitly authorizes VentoVault to instruct partners. This is the legal disengagement point - VentoVault's liability ends here.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743200"/>
            <a:ext cx="4023360" cy="1280160"/>
          </a:xfrm>
          <a:prstGeom prst="rect">
            <a:avLst/>
          </a:prstGeom>
          <a:solidFill>
            <a:srgbClr val="DC3545">
              <a:alpha val="85000"/>
            </a:srgbClr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⚠️ Compliance Gates (Step 5)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Layer 1: VentoVault sanctions check. Layer 2: Partner validates against their compliance engine. Both must pass.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</a:rPr>
              <a:t>User-facing simplicity hides complex regulatory orchestration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Typical Timeline: 15-45 minutes end-to-end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Steps 1-3: &lt; 2 min  |  Steps 4-5: 5-10 min  |  Steps 6-8: 10-30 min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Steps 1-2: Intent Creation &amp; Quoting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41148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[User Screen: Transfer Form]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88"/>
                </a:solidFill>
              </a:rPr>
              <a:t>Send Money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From: USD (United States)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To: EUR (Germany)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Amount: $500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Recipient: IBAN DE89...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749040" cy="155448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Your Quote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Recipient gets: €498.72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Exchange rate: 1.2468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Total cost: $412.50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Valid for: 5:00 minutes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💻 What Happens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1. User selects corridor (DR→NY)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2. VentoVault routing engine: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• Queries partner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• Calculates total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• Selects optimal route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931920" cy="1188720"/>
          </a:xfrm>
          <a:prstGeom prst="rect">
            <a:avLst/>
          </a:prstGeom>
          <a:solidFill>
            <a:srgbClr val="FFC107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⚠️ Risk Controls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Recipient payout method validated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Fuzzy/phonetic name check (85%+ match)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Quote includes 5-10% buffer for volatility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4297680"/>
            <a:ext cx="393192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480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💰 Pricing Transparency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4846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Quote shows: Rate | Spread | Fees | Net Amount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All-in cost displayed upfront (no hidden fees)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Quote is a time-bounded contract with guaranteed ceiling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Step 3: The Consent Bridge (Critical)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C10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This is the LEGAL FIREWALL that protects VentoVault from custody/control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[User Screen: Partner Authorization]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Authorize Your Transfer Route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Your funds will flow through: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1. Collection: Acme Bank (Lic #12345)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2. Settlement: Swift GPI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3. Payout: Global Remit Ltd (Lic #67890)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37490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97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[Authorize Button]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3200400"/>
          </a:xfrm>
          <a:prstGeom prst="rect">
            <a:avLst/>
          </a:prstGeom>
          <a:solidFill>
            <a:srgbClr val="DC3545">
              <a:alpha val="90000"/>
            </a:srgbClr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📜 Legal Significance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By clicking 'Authorize':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User affirms 'baton pass' of liability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VentoVault's role = instruction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Partners assume custody/execution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VentoVault cannot act unilaterally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🔒 The 30-Second Control 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4206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After user authorization, a mandatory 30-second delay is enforced by external oracle. This proves temporal independence - VentoVault cannot execute immediately upon receiving authorization.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3545"/>
                </a:solidFill>
              </a:rPr>
              <a:t>VentoVault's liability ends here. Partners own finality of settlement.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Steps 4-5: Funding &amp; Double-Validation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00A896">
              <a:alpha val="9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STEP 4: Funding (Regulated Entry)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User sends $500 from their bank → Collection Partner's regulated rails (ACH/Wire/Card). Funds enter system. Identity linkage becomes enforceable.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88"/>
                </a:solidFill>
              </a:rPr>
              <a:t>STEP 5: Double-Validation Compliance 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023360" cy="2103120"/>
          </a:xfrm>
          <a:prstGeom prst="rect">
            <a:avLst/>
          </a:prstGeom>
          <a:solidFill>
            <a:srgbClr val="02C39A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Layer 1: VentoVault Safety Net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Checks (internal, 60-min cache):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Fuzzy/phonetic matching (85%+)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OFAC/Sanctions screening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High-risk corridor flags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Velocity/amount limits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788"/>
                </a:solidFill>
              </a:rPr>
              <a:t>Real-Time Bypass: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&gt;$5,000 transfers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High-risk corridors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Recent sanctions updates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3108960"/>
            <a:ext cx="4023360" cy="210312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Layer 2: Partner Execution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Partner independently validates: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KYC/AML against their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Their own sanctions screening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Regulatory reporting (SAR/CTR)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Issues cryptographic auth token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4663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788"/>
                </a:solidFill>
              </a:rPr>
              <a:t>Partner SLA: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Must respond within 4 hours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Approve/Reject/Hold decision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VentoVault cannot override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⚠️ If either layer fails, transaction is killed. VentoVault protects partners' licenses.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Steps 6-7: Settlement &amp; Payout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788"/>
                </a:solidFill>
              </a:rPr>
              <a:t>Money Flow Across Partners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18872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737360"/>
            <a:ext cx="731520" cy="2286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508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$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463040"/>
            <a:ext cx="1188720" cy="731520"/>
          </a:xfrm>
          <a:prstGeom prst="rect">
            <a:avLst/>
          </a:prstGeom>
          <a:solidFill>
            <a:srgbClr val="028090">
              <a:alpha val="80000"/>
            </a:srgbClr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Collection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Partner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731520" cy="2286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08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$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118872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Settlement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Network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737360"/>
            <a:ext cx="731520" cy="2286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508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$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1188720" cy="731520"/>
          </a:xfrm>
          <a:prstGeom prst="rect">
            <a:avLst/>
          </a:prstGeom>
          <a:solidFill>
            <a:srgbClr val="028090">
              <a:alpha val="80000"/>
            </a:srgbClr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Payout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Partner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1737360"/>
            <a:ext cx="731520" cy="2286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508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$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118872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Recipient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Bank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4023360" cy="1463040"/>
          </a:xfrm>
          <a:prstGeom prst="rect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STEP 6: Conversion &amp; Settlement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017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USD converted to settlement instrument (often stablecoin or correspondent account)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Value moves through settlement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Converted to EUR on destination side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All legs must be auditable (tx IDs, timestamps)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4023360" cy="146304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STEP 7: Payout (Regulated Exit)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017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Payout Partner delivers EUR to recipient IBAN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Payout confirmation captured as first-class 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Idempotency check (128-bit UUID) prevents duplicate payouts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Final receipt issued to user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💰 Cost Allocation Across Partners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Funding Rail Cost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$2.50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0.5%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9834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FX Conversion Spread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4983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$4.00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4983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0.8%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2578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Settlement Network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0" y="5257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$1.50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5257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0.3%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5321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Payout Rail Cost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0" y="5532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$2.00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40880" y="5532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0.4%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806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Compliance/Fraud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0" y="5806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$1.50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5806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0.3%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6080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VentoVault Fee (3%)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0" y="6080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$15.00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40880" y="6080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3.0%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solidFill>
            <a:srgbClr val="1F478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3550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COST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0" y="63550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$26.50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40880" y="63550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5.3%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Partner Stack &amp; Responsibility Matrix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5 Required Partners for Phase 1 Operations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 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21031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21031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VentoVault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463040"/>
            <a:ext cx="21031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Regulatory Owner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Collection Partner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82880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Receive funds via local rails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Instruction generator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Partner (KYC, Collection)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182880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Payout Partner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2377440"/>
            <a:ext cx="210312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Deliver funds to recipient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377440"/>
            <a:ext cx="210312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Instruction generator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77440"/>
            <a:ext cx="210312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Partner (AML, Payout)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Settlement Path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92608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Move value between jurisdictions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Rate quotation coordinator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292608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Partner (FX Conversion)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182880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Conversion/Liquidity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0" y="3474720"/>
            <a:ext cx="210312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Execute fiat-to-settlement exchanges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474720"/>
            <a:ext cx="210312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Route selector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474720"/>
            <a:ext cx="210312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Partner (Settlement)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0233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Compliance Vendors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402336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Sanctions/KYC/Transaction monitoring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402336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Policy &amp; logic gate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66560" y="402336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Shared (Layer 1 + 2)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029200"/>
            <a:ext cx="8229600" cy="822960"/>
          </a:xfrm>
          <a:prstGeom prst="rect">
            <a:avLst/>
          </a:prstGeom>
          <a:solidFill>
            <a:srgbClr val="FFC107">
              <a:alpha val="90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212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🔑 Core Principle: Zero-Possession Architecture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40080" y="5577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VentoVault orchestrates but NEVER: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✗ Holds private keys  ✗ Takes custody of funds  ✗ Executes settlements independently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Step 8: Reconciliation &amp; Final Receipt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8090"/>
                </a:solidFill>
              </a:rPr>
              <a:t>The 'Truth Layer' - Verifiable History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</a:rPr>
              <a:t>[Final Receipt to User]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Transfer Complete 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Executed Details: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You sent: $500.00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Recipient received: €498.72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Exchange rate: 1.2468 (executed)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Total cost: $412.50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Timestamps: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Authorized: 2:15:42 PM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Funded: 2:18:03 PM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Delivered: 2:42:18 PM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Partner Confirmations: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Collection: TX-ABC123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Settlement: SWIFT-XYZ789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Payout: PAY-DEF456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🔍 Behind the Scenes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Reconciliation Process: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1. System logs every event + confirmation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2. Verification of unique 128-bit UUID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3. Prevents duplicate payouts via idempotency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4. Issues final immutable receipt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Audit Trail Requirements: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ISO 20022 compliant messaging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pacs.008 standards for settlement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FATF Travel Rule: Originator/Beneficiary data captured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Deterministic State Machine: 13 states tracked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Rollback Execution IDs: Atomic refund capability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4754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Daily Reconciliation: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VentoVault vs. Partner confirmation IDs cross-checked every transaction. Integrity Lock flags mismatches for Exception Queue.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Receipts reflect executed reality, not quoted intention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Safety Mechanisms: Kill Switch &amp; Rollbacks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DC3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🚨 Universal Kill Switch: Freeze All Transactions in &lt; 60 Seconds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2194560"/>
          </a:xfrm>
          <a:prstGeom prst="rect">
            <a:avLst/>
          </a:prstGeom>
          <a:solidFill>
            <a:srgbClr val="DC3545">
              <a:alpha val="90000"/>
            </a:srgbClr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When Kill Switch Activates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Triggers: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&gt;95% OFAC match detected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Multiple fraud signatures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Partner RTO exceeded (4hrs)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Mule network pattern detected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Action: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All pending transactions frozen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Users/corridors flagged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Partners notified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Manual review required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011680"/>
            <a:ext cx="4023360" cy="219456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Atomic Rollback Protocol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560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For funded transactions not yet paid out: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Unique rollback ID generated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Logged in evidence layer BEFORE refund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Prevents double-refunds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Source-of-failure categorized: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✓ VentoVault fault = 100% gross refund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✓ User fault = current market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  ✓ Partner fault = partner absorbs loss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Partner Kill Switch Enforcement (RTO)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Tier 1: Technical RTO Miss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Immediate reroute to warm standby partner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Tier 2: Recurring Failure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5440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50% volume reduction for 30 days pending RCA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solidFill>
            <a:srgbClr val="DC3545">
              <a:alpha val="8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897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Tier 3: Systemic Failure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5897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Full Kill Switch + Contract Termination within 24hrs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The Trust Layer: Users are never penalized for systemic friction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What Defines a 'Successful' Transfer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C3E50"/>
                </a:solidFill>
              </a:rPr>
              <a:t>Three Simultaneous Conditions Must Be Met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solidFill>
            <a:srgbClr val="02C39A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88"/>
                </a:solidFill>
              </a:rPr>
              <a:t>Recipient Outcome Achieved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</a:rPr>
              <a:t>Money received correctly in recipient's account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Correct amount delivered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Correct account credited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Payout confirmation captured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solidFill>
            <a:srgbClr val="02C39A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88"/>
                </a:solidFill>
              </a:rPr>
              <a:t>Compliance Integrity Preserved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</a:rPr>
              <a:t>Screening + controls applied at every checkpoint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611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Layer 1 + Layer 2 validation passed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No sanctioned parties involved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Travel Rule data captured (FATF Rec 16)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1280160"/>
          </a:xfrm>
          <a:prstGeom prst="rect">
            <a:avLst/>
          </a:prstGeom>
          <a:solidFill>
            <a:srgbClr val="02C39A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34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3891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88"/>
                </a:solidFill>
              </a:rPr>
              <a:t>Audit Trail Complete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7091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</a:rPr>
              <a:t>The path is defensible later (litigation/regulator inquiry)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9834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ISO 20022 compliant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Partner confirmation IDs recorded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Immutable evidence layer (I-S-O)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solidFill>
            <a:srgbClr val="DC354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623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</a:rPr>
              <a:t>⚠️ If ANY one of these fails, the business accumulates risk debt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VentoVault in One Slide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F0F1"/>
                </a:solidFill>
              </a:rPr>
              <a:t>We are a technical switchboard that orchestrates international payments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F0F1"/>
                </a:solidFill>
              </a:rPr>
              <a:t>We connect users to regulated partners who execute all money movement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F0F1"/>
                </a:solidFill>
              </a:rPr>
              <a:t>We decompose the monolithic legacy transfer into discrete, efficient functions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F0F1"/>
                </a:solidFill>
              </a:rPr>
              <a:t>Every transaction passes through double-validation compliance gates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F0F1"/>
                </a:solidFill>
              </a:rPr>
              <a:t>The Consent Bridge proves we lack independent control over funds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F0F1"/>
                </a:solidFill>
              </a:rPr>
              <a:t>Partners own custody, execution, and settlement finality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CF0F1"/>
                </a:solidFill>
              </a:rPr>
              <a:t>We own orchestration fidelity, transparency, and audit trail integrity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577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Result: Institutional-grade compliance with 68% lower total cost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VentoVault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VentoVault Works: System Architecture &amp; Flow</dc:title>
  <dc:subject>PptxGenJS Presentation</dc:subject>
  <dc:creator>VentoVault</dc:creator>
  <cp:lastModifiedBy>VentoVault</cp:lastModifiedBy>
  <cp:revision>1</cp:revision>
  <dcterms:created xsi:type="dcterms:W3CDTF">2026-02-11T13:35:52Z</dcterms:created>
  <dcterms:modified xsi:type="dcterms:W3CDTF">2026-02-11T13:35:52Z</dcterms:modified>
</cp:coreProperties>
</file>